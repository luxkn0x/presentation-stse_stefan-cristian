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60" r:id="rId5"/>
    <p:sldId id="261" r:id="rId6"/>
    <p:sldId id="262" r:id="rId7"/>
    <p:sldId id="263" r:id="rId8"/>
    <p:sldId id="264" r:id="rId9"/>
    <p:sldId id="259"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6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 Cristian" initials="SC" lastIdx="1" clrIdx="0">
    <p:extLst>
      <p:ext uri="{19B8F6BF-5375-455C-9EA6-DF929625EA0E}">
        <p15:presenceInfo xmlns:p15="http://schemas.microsoft.com/office/powerpoint/2012/main" userId="bd023d1dae1cc30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33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26" autoAdjust="0"/>
    <p:restoredTop sz="94046" autoAdjust="0"/>
  </p:normalViewPr>
  <p:slideViewPr>
    <p:cSldViewPr snapToGrid="0">
      <p:cViewPr varScale="1">
        <p:scale>
          <a:sx n="80" d="100"/>
          <a:sy n="80" d="100"/>
        </p:scale>
        <p:origin x="50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D6508D-6A74-458B-A1CF-A6B59E5B5B8A}"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E3081B-2031-4CFE-8726-C47BC4B8EE31}" type="slidenum">
              <a:rPr lang="en-US" smtClean="0"/>
              <a:t>‹#›</a:t>
            </a:fld>
            <a:endParaRPr lang="en-US"/>
          </a:p>
        </p:txBody>
      </p:sp>
    </p:spTree>
    <p:extLst>
      <p:ext uri="{BB962C8B-B14F-4D97-AF65-F5344CB8AC3E}">
        <p14:creationId xmlns:p14="http://schemas.microsoft.com/office/powerpoint/2010/main" val="332145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DEB5B5-1E0C-45B7-94BC-508E2F8E494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515EFB0F-06E3-4C79-B261-9CECF478098E}" type="slidenum">
              <a:rPr lang="en-US" smtClean="0"/>
              <a:t>‹#›</a:t>
            </a:fld>
            <a:endParaRPr lang="en-US"/>
          </a:p>
        </p:txBody>
      </p:sp>
    </p:spTree>
    <p:extLst>
      <p:ext uri="{BB962C8B-B14F-4D97-AF65-F5344CB8AC3E}">
        <p14:creationId xmlns:p14="http://schemas.microsoft.com/office/powerpoint/2010/main" val="200814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DEB5B5-1E0C-45B7-94BC-508E2F8E494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97912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14DEB5B5-1E0C-45B7-94BC-508E2F8E494E}" type="datetimeFigureOut">
              <a:rPr lang="en-US" smtClean="0"/>
              <a:t>12/16/2025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515EFB0F-06E3-4C79-B261-9CECF478098E}" type="slidenum">
              <a:rPr lang="en-US" smtClean="0"/>
              <a:t>‹#›</a:t>
            </a:fld>
            <a:endParaRPr lang="en-US"/>
          </a:p>
        </p:txBody>
      </p:sp>
    </p:spTree>
    <p:extLst>
      <p:ext uri="{BB962C8B-B14F-4D97-AF65-F5344CB8AC3E}">
        <p14:creationId xmlns:p14="http://schemas.microsoft.com/office/powerpoint/2010/main" val="295578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DEB5B5-1E0C-45B7-94BC-508E2F8E494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31978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DEB5B5-1E0C-45B7-94BC-508E2F8E494E}"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30602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DEB5B5-1E0C-45B7-94BC-508E2F8E494E}"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3224988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DEB5B5-1E0C-45B7-94BC-508E2F8E494E}"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422706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DEB5B5-1E0C-45B7-94BC-508E2F8E494E}"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726016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DEB5B5-1E0C-45B7-94BC-508E2F8E494E}" type="datetimeFigureOut">
              <a:rPr lang="en-US" smtClean="0"/>
              <a:t>12/16/2025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4174892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DEB5B5-1E0C-45B7-94BC-508E2F8E494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2503404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DEB5B5-1E0C-45B7-94BC-508E2F8E494E}"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EFB0F-06E3-4C79-B261-9CECF478098E}" type="slidenum">
              <a:rPr lang="en-US" smtClean="0"/>
              <a:t>‹#›</a:t>
            </a:fld>
            <a:endParaRPr lang="en-US"/>
          </a:p>
        </p:txBody>
      </p:sp>
    </p:spTree>
    <p:extLst>
      <p:ext uri="{BB962C8B-B14F-4D97-AF65-F5344CB8AC3E}">
        <p14:creationId xmlns:p14="http://schemas.microsoft.com/office/powerpoint/2010/main" val="1423466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4DEB5B5-1E0C-45B7-94BC-508E2F8E494E}" type="datetimeFigureOut">
              <a:rPr lang="en-US" smtClean="0"/>
              <a:t>12/16/2025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515EFB0F-06E3-4C79-B261-9CECF478098E}" type="slidenum">
              <a:rPr lang="en-US" smtClean="0"/>
              <a:t>‹#›</a:t>
            </a:fld>
            <a:endParaRPr lang="en-US"/>
          </a:p>
        </p:txBody>
      </p:sp>
    </p:spTree>
    <p:extLst>
      <p:ext uri="{BB962C8B-B14F-4D97-AF65-F5344CB8AC3E}">
        <p14:creationId xmlns:p14="http://schemas.microsoft.com/office/powerpoint/2010/main" val="34932984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F4EC3-AE6D-26FC-2AA5-DC438C4D4CA6}"/>
              </a:ext>
            </a:extLst>
          </p:cNvPr>
          <p:cNvSpPr>
            <a:spLocks noGrp="1"/>
          </p:cNvSpPr>
          <p:nvPr>
            <p:ph type="ctrTitle"/>
          </p:nvPr>
        </p:nvSpPr>
        <p:spPr>
          <a:xfrm>
            <a:off x="1470897" y="3358094"/>
            <a:ext cx="9049787" cy="876822"/>
          </a:xfrm>
        </p:spPr>
        <p:txBody>
          <a:bodyPr>
            <a:normAutofit fontScale="90000"/>
          </a:bodyPr>
          <a:lstStyle/>
          <a:p>
            <a:r>
              <a:rPr lang="en-US" sz="3600" b="1" dirty="0"/>
              <a:t>Creating Real-Time Dashboards with Kibana</a:t>
            </a:r>
            <a:endParaRPr lang="en-US" sz="5400" dirty="0"/>
          </a:p>
        </p:txBody>
      </p:sp>
      <p:sp>
        <p:nvSpPr>
          <p:cNvPr id="3" name="Subtitle 2">
            <a:extLst>
              <a:ext uri="{FF2B5EF4-FFF2-40B4-BE49-F238E27FC236}">
                <a16:creationId xmlns:a16="http://schemas.microsoft.com/office/drawing/2014/main" id="{F1F48AE2-E5C4-8CA0-565C-1647474CD4CF}"/>
              </a:ext>
            </a:extLst>
          </p:cNvPr>
          <p:cNvSpPr>
            <a:spLocks noGrp="1"/>
          </p:cNvSpPr>
          <p:nvPr>
            <p:ph type="subTitle" idx="1"/>
          </p:nvPr>
        </p:nvSpPr>
        <p:spPr>
          <a:xfrm>
            <a:off x="4305300" y="4607832"/>
            <a:ext cx="3581400" cy="785609"/>
          </a:xfrm>
        </p:spPr>
        <p:txBody>
          <a:bodyPr>
            <a:normAutofit fontScale="85000" lnSpcReduction="20000"/>
          </a:bodyPr>
          <a:lstStyle/>
          <a:p>
            <a:r>
              <a:rPr lang="en-US" sz="3100">
                <a:effectLst>
                  <a:outerShdw blurRad="38100" dist="38100" dir="2700000" algn="tl">
                    <a:srgbClr val="000000">
                      <a:alpha val="43137"/>
                    </a:srgbClr>
                  </a:outerShdw>
                </a:effectLst>
              </a:rPr>
              <a:t>Ștefan Cristian</a:t>
            </a:r>
            <a:endParaRPr lang="en-US" sz="4000" dirty="0">
              <a:effectLst>
                <a:outerShdw blurRad="38100" dist="38100" dir="2700000" algn="tl">
                  <a:srgbClr val="000000">
                    <a:alpha val="43137"/>
                  </a:srgbClr>
                </a:outerShdw>
              </a:effectLst>
            </a:endParaRPr>
          </a:p>
          <a:p>
            <a:r>
              <a:rPr lang="en-US" sz="2300" dirty="0">
                <a:effectLst>
                  <a:outerShdw blurRad="38100" dist="38100" dir="2700000" algn="tl">
                    <a:srgbClr val="000000">
                      <a:alpha val="43137"/>
                    </a:srgbClr>
                  </a:outerShdw>
                </a:effectLst>
              </a:rPr>
              <a:t>Group 1272E</a:t>
            </a:r>
          </a:p>
          <a:p>
            <a:endParaRPr lang="en-US" sz="2800" dirty="0"/>
          </a:p>
        </p:txBody>
      </p:sp>
      <p:pic>
        <p:nvPicPr>
          <p:cNvPr id="7" name="Picture 6">
            <a:extLst>
              <a:ext uri="{FF2B5EF4-FFF2-40B4-BE49-F238E27FC236}">
                <a16:creationId xmlns:a16="http://schemas.microsoft.com/office/drawing/2014/main" id="{8A6A9E8C-FD4F-4882-D9E3-13B9904C221C}"/>
              </a:ext>
            </a:extLst>
          </p:cNvPr>
          <p:cNvPicPr>
            <a:picLocks noChangeAspect="1"/>
          </p:cNvPicPr>
          <p:nvPr/>
        </p:nvPicPr>
        <p:blipFill>
          <a:blip r:embed="rId2"/>
          <a:stretch>
            <a:fillRect/>
          </a:stretch>
        </p:blipFill>
        <p:spPr>
          <a:xfrm>
            <a:off x="924797" y="198524"/>
            <a:ext cx="1092200" cy="1092200"/>
          </a:xfrm>
          <a:prstGeom prst="rect">
            <a:avLst/>
          </a:prstGeom>
        </p:spPr>
      </p:pic>
      <p:pic>
        <p:nvPicPr>
          <p:cNvPr id="8" name="Picture 7">
            <a:extLst>
              <a:ext uri="{FF2B5EF4-FFF2-40B4-BE49-F238E27FC236}">
                <a16:creationId xmlns:a16="http://schemas.microsoft.com/office/drawing/2014/main" id="{032057F4-6377-26F7-39C6-B003AACE813B}"/>
              </a:ext>
            </a:extLst>
          </p:cNvPr>
          <p:cNvPicPr>
            <a:picLocks noChangeAspect="1"/>
          </p:cNvPicPr>
          <p:nvPr/>
        </p:nvPicPr>
        <p:blipFill>
          <a:blip r:embed="rId3"/>
          <a:stretch>
            <a:fillRect/>
          </a:stretch>
        </p:blipFill>
        <p:spPr>
          <a:xfrm>
            <a:off x="9544050" y="304800"/>
            <a:ext cx="1576611" cy="985924"/>
          </a:xfrm>
          <a:prstGeom prst="rect">
            <a:avLst/>
          </a:prstGeom>
        </p:spPr>
      </p:pic>
      <p:sp>
        <p:nvSpPr>
          <p:cNvPr id="12" name="TextBox 11">
            <a:extLst>
              <a:ext uri="{FF2B5EF4-FFF2-40B4-BE49-F238E27FC236}">
                <a16:creationId xmlns:a16="http://schemas.microsoft.com/office/drawing/2014/main" id="{E316673E-E46F-5E94-708E-71C88F54B9B4}"/>
              </a:ext>
            </a:extLst>
          </p:cNvPr>
          <p:cNvSpPr txBox="1"/>
          <p:nvPr/>
        </p:nvSpPr>
        <p:spPr>
          <a:xfrm>
            <a:off x="2143959" y="2750543"/>
            <a:ext cx="8577144" cy="646331"/>
          </a:xfrm>
          <a:prstGeom prst="rect">
            <a:avLst/>
          </a:prstGeom>
          <a:noFill/>
        </p:spPr>
        <p:txBody>
          <a:bodyPr wrap="square">
            <a:spAutoFit/>
          </a:bodyPr>
          <a:lstStyle/>
          <a:p>
            <a:pPr algn="ctr"/>
            <a:r>
              <a:rPr lang="en-US" sz="3600" dirty="0"/>
              <a:t>Special Topics in Software Engineering</a:t>
            </a:r>
          </a:p>
        </p:txBody>
      </p:sp>
    </p:spTree>
    <p:extLst>
      <p:ext uri="{BB962C8B-B14F-4D97-AF65-F5344CB8AC3E}">
        <p14:creationId xmlns:p14="http://schemas.microsoft.com/office/powerpoint/2010/main" val="242608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857F7-0715-D37D-CB90-29C2D811FB43}"/>
              </a:ext>
            </a:extLst>
          </p:cNvPr>
          <p:cNvSpPr>
            <a:spLocks noGrp="1"/>
          </p:cNvSpPr>
          <p:nvPr>
            <p:ph type="title"/>
          </p:nvPr>
        </p:nvSpPr>
        <p:spPr/>
        <p:txBody>
          <a:bodyPr>
            <a:normAutofit/>
          </a:bodyPr>
          <a:lstStyle/>
          <a:p>
            <a:r>
              <a:rPr lang="en-US" sz="3600" b="1" dirty="0"/>
              <a:t>What Are Real-Time Dashboards?</a:t>
            </a:r>
          </a:p>
        </p:txBody>
      </p:sp>
      <p:sp>
        <p:nvSpPr>
          <p:cNvPr id="3" name="Content Placeholder 2">
            <a:extLst>
              <a:ext uri="{FF2B5EF4-FFF2-40B4-BE49-F238E27FC236}">
                <a16:creationId xmlns:a16="http://schemas.microsoft.com/office/drawing/2014/main" id="{71D46375-67D3-D163-3DCE-76DB847A5AF1}"/>
              </a:ext>
            </a:extLst>
          </p:cNvPr>
          <p:cNvSpPr>
            <a:spLocks noGrp="1"/>
          </p:cNvSpPr>
          <p:nvPr>
            <p:ph idx="1"/>
          </p:nvPr>
        </p:nvSpPr>
        <p:spPr>
          <a:xfrm>
            <a:off x="838200" y="1825626"/>
            <a:ext cx="9520825" cy="2777690"/>
          </a:xfrm>
        </p:spPr>
        <p:txBody>
          <a:bodyPr/>
          <a:lstStyle/>
          <a:p>
            <a:r>
              <a:rPr lang="en-US" dirty="0"/>
              <a:t>Dashboards that automatically update when new data arrives</a:t>
            </a:r>
          </a:p>
          <a:p>
            <a:r>
              <a:rPr lang="en-US" dirty="0"/>
              <a:t>Used to monitor systems, websites, sensors, security events, etc.</a:t>
            </a:r>
          </a:p>
          <a:p>
            <a:r>
              <a:rPr lang="en-US" dirty="0"/>
              <a:t>Powered by streaming data from logs, APIs, or event pipelines</a:t>
            </a:r>
          </a:p>
        </p:txBody>
      </p:sp>
    </p:spTree>
    <p:extLst>
      <p:ext uri="{BB962C8B-B14F-4D97-AF65-F5344CB8AC3E}">
        <p14:creationId xmlns:p14="http://schemas.microsoft.com/office/powerpoint/2010/main" val="1770336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BC5D-1BBD-D41E-89DE-E3E279325866}"/>
              </a:ext>
            </a:extLst>
          </p:cNvPr>
          <p:cNvSpPr>
            <a:spLocks noGrp="1"/>
          </p:cNvSpPr>
          <p:nvPr>
            <p:ph type="title"/>
          </p:nvPr>
        </p:nvSpPr>
        <p:spPr/>
        <p:txBody>
          <a:bodyPr>
            <a:normAutofit/>
          </a:bodyPr>
          <a:lstStyle/>
          <a:p>
            <a:r>
              <a:rPr lang="en-US" sz="3600" b="1" dirty="0"/>
              <a:t>Why Real-Time Dashboards Matter</a:t>
            </a:r>
          </a:p>
        </p:txBody>
      </p:sp>
      <p:sp>
        <p:nvSpPr>
          <p:cNvPr id="3" name="Content Placeholder 2">
            <a:extLst>
              <a:ext uri="{FF2B5EF4-FFF2-40B4-BE49-F238E27FC236}">
                <a16:creationId xmlns:a16="http://schemas.microsoft.com/office/drawing/2014/main" id="{5117EFA8-137D-EB3F-0DA7-7FCD7E8A07A9}"/>
              </a:ext>
            </a:extLst>
          </p:cNvPr>
          <p:cNvSpPr>
            <a:spLocks noGrp="1"/>
          </p:cNvSpPr>
          <p:nvPr>
            <p:ph idx="1"/>
          </p:nvPr>
        </p:nvSpPr>
        <p:spPr/>
        <p:txBody>
          <a:bodyPr/>
          <a:lstStyle/>
          <a:p>
            <a:r>
              <a:rPr lang="en-US" dirty="0"/>
              <a:t>Detect problems quickly (errors, attacks, spikes)</a:t>
            </a:r>
          </a:p>
          <a:p>
            <a:r>
              <a:rPr lang="en-US" dirty="0"/>
              <a:t>Improve decision-making</a:t>
            </a:r>
          </a:p>
          <a:p>
            <a:r>
              <a:rPr lang="en-US" dirty="0"/>
              <a:t>Understand user behavior in real time</a:t>
            </a:r>
          </a:p>
          <a:p>
            <a:r>
              <a:rPr lang="en-US" dirty="0"/>
              <a:t>Critical in industries like e-commerce, healthcare, security</a:t>
            </a:r>
          </a:p>
          <a:p>
            <a:r>
              <a:rPr lang="en-US" dirty="0"/>
              <a:t>Eg:</a:t>
            </a:r>
          </a:p>
          <a:p>
            <a:pPr lvl="1"/>
            <a:r>
              <a:rPr lang="en-US" dirty="0"/>
              <a:t>Netflix uses real-time dashboards for video streaming performance (source: Netflix Tech Blog).</a:t>
            </a:r>
          </a:p>
          <a:p>
            <a:pPr lvl="1"/>
            <a:r>
              <a:rPr lang="en-US" dirty="0"/>
              <a:t>Hospitals use real-time dashboards to monitor ICU vitals.</a:t>
            </a:r>
          </a:p>
        </p:txBody>
      </p:sp>
    </p:spTree>
    <p:extLst>
      <p:ext uri="{BB962C8B-B14F-4D97-AF65-F5344CB8AC3E}">
        <p14:creationId xmlns:p14="http://schemas.microsoft.com/office/powerpoint/2010/main" val="408833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1F1B-1C29-153A-2C76-011971BFD9EA}"/>
              </a:ext>
            </a:extLst>
          </p:cNvPr>
          <p:cNvSpPr>
            <a:spLocks noGrp="1"/>
          </p:cNvSpPr>
          <p:nvPr>
            <p:ph type="title"/>
          </p:nvPr>
        </p:nvSpPr>
        <p:spPr/>
        <p:txBody>
          <a:bodyPr>
            <a:normAutofit/>
          </a:bodyPr>
          <a:lstStyle/>
          <a:p>
            <a:r>
              <a:rPr lang="en-US" sz="3600" b="1" dirty="0"/>
              <a:t>What Is Elasticsearch?</a:t>
            </a:r>
          </a:p>
        </p:txBody>
      </p:sp>
      <p:sp>
        <p:nvSpPr>
          <p:cNvPr id="3" name="Content Placeholder 2">
            <a:extLst>
              <a:ext uri="{FF2B5EF4-FFF2-40B4-BE49-F238E27FC236}">
                <a16:creationId xmlns:a16="http://schemas.microsoft.com/office/drawing/2014/main" id="{9C58DB04-DB64-7F26-5571-03B168E64306}"/>
              </a:ext>
            </a:extLst>
          </p:cNvPr>
          <p:cNvSpPr>
            <a:spLocks noGrp="1"/>
          </p:cNvSpPr>
          <p:nvPr>
            <p:ph idx="1"/>
          </p:nvPr>
        </p:nvSpPr>
        <p:spPr/>
        <p:txBody>
          <a:bodyPr/>
          <a:lstStyle/>
          <a:p>
            <a:r>
              <a:rPr lang="en-US" dirty="0"/>
              <a:t>A distributed, NoSQL search and analytics engine</a:t>
            </a:r>
          </a:p>
          <a:p>
            <a:r>
              <a:rPr lang="en-US" dirty="0"/>
              <a:t>Optimized for high-volume logs and time-series data</a:t>
            </a:r>
          </a:p>
          <a:p>
            <a:r>
              <a:rPr lang="en-US" dirty="0"/>
              <a:t>Part of the Elastic Stack (ELK Stack): Elasticsearch → Logstash → Kibana</a:t>
            </a:r>
          </a:p>
        </p:txBody>
      </p:sp>
    </p:spTree>
    <p:extLst>
      <p:ext uri="{BB962C8B-B14F-4D97-AF65-F5344CB8AC3E}">
        <p14:creationId xmlns:p14="http://schemas.microsoft.com/office/powerpoint/2010/main" val="2525083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13FA-E697-8AB6-479A-84FA0DCFDDD6}"/>
              </a:ext>
            </a:extLst>
          </p:cNvPr>
          <p:cNvSpPr>
            <a:spLocks noGrp="1"/>
          </p:cNvSpPr>
          <p:nvPr>
            <p:ph type="title"/>
          </p:nvPr>
        </p:nvSpPr>
        <p:spPr/>
        <p:txBody>
          <a:bodyPr>
            <a:normAutofit/>
          </a:bodyPr>
          <a:lstStyle/>
          <a:p>
            <a:r>
              <a:rPr lang="en-US" sz="3600" b="1" dirty="0"/>
              <a:t>What Is Kibana?</a:t>
            </a:r>
          </a:p>
        </p:txBody>
      </p:sp>
      <p:sp>
        <p:nvSpPr>
          <p:cNvPr id="3" name="Content Placeholder 2">
            <a:extLst>
              <a:ext uri="{FF2B5EF4-FFF2-40B4-BE49-F238E27FC236}">
                <a16:creationId xmlns:a16="http://schemas.microsoft.com/office/drawing/2014/main" id="{3D41C682-90F7-3E55-EA1B-11649B34E581}"/>
              </a:ext>
            </a:extLst>
          </p:cNvPr>
          <p:cNvSpPr>
            <a:spLocks noGrp="1"/>
          </p:cNvSpPr>
          <p:nvPr>
            <p:ph idx="1"/>
          </p:nvPr>
        </p:nvSpPr>
        <p:spPr>
          <a:xfrm>
            <a:off x="838200" y="1806836"/>
            <a:ext cx="10515600" cy="4351338"/>
          </a:xfrm>
        </p:spPr>
        <p:txBody>
          <a:bodyPr/>
          <a:lstStyle/>
          <a:p>
            <a:r>
              <a:rPr lang="en-US" dirty="0"/>
              <a:t>A visualization and dashboard tool</a:t>
            </a:r>
          </a:p>
          <a:p>
            <a:r>
              <a:rPr lang="en-US" dirty="0"/>
              <a:t>Works on top of Elasticsearch</a:t>
            </a:r>
          </a:p>
          <a:p>
            <a:r>
              <a:rPr lang="en-US" dirty="0"/>
              <a:t>Used for: </a:t>
            </a:r>
          </a:p>
          <a:p>
            <a:pPr lvl="1"/>
            <a:r>
              <a:rPr lang="en-US" dirty="0"/>
              <a:t>Log analysis</a:t>
            </a:r>
          </a:p>
          <a:p>
            <a:pPr lvl="1"/>
            <a:r>
              <a:rPr lang="en-US" dirty="0"/>
              <a:t>Security monitoring</a:t>
            </a:r>
          </a:p>
          <a:p>
            <a:pPr lvl="1"/>
            <a:r>
              <a:rPr lang="en-US" dirty="0"/>
              <a:t>Business dashboards</a:t>
            </a:r>
          </a:p>
          <a:p>
            <a:pPr lvl="1"/>
            <a:r>
              <a:rPr lang="en-US" dirty="0"/>
              <a:t>Website analytics</a:t>
            </a:r>
          </a:p>
        </p:txBody>
      </p:sp>
    </p:spTree>
    <p:extLst>
      <p:ext uri="{BB962C8B-B14F-4D97-AF65-F5344CB8AC3E}">
        <p14:creationId xmlns:p14="http://schemas.microsoft.com/office/powerpoint/2010/main" val="299261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A5B2-5473-F8F7-BA9F-5A197B58B02B}"/>
              </a:ext>
            </a:extLst>
          </p:cNvPr>
          <p:cNvSpPr>
            <a:spLocks noGrp="1"/>
          </p:cNvSpPr>
          <p:nvPr>
            <p:ph type="title"/>
          </p:nvPr>
        </p:nvSpPr>
        <p:spPr/>
        <p:txBody>
          <a:bodyPr>
            <a:normAutofit/>
          </a:bodyPr>
          <a:lstStyle/>
          <a:p>
            <a:r>
              <a:rPr lang="en-US" sz="3600" b="1" dirty="0"/>
              <a:t>Real-World Uses of Kibana</a:t>
            </a:r>
          </a:p>
        </p:txBody>
      </p:sp>
      <p:sp>
        <p:nvSpPr>
          <p:cNvPr id="3" name="Content Placeholder 2">
            <a:extLst>
              <a:ext uri="{FF2B5EF4-FFF2-40B4-BE49-F238E27FC236}">
                <a16:creationId xmlns:a16="http://schemas.microsoft.com/office/drawing/2014/main" id="{D3021EA0-0F58-5A3B-BB0C-5A41780ED50A}"/>
              </a:ext>
            </a:extLst>
          </p:cNvPr>
          <p:cNvSpPr>
            <a:spLocks noGrp="1"/>
          </p:cNvSpPr>
          <p:nvPr>
            <p:ph idx="1"/>
          </p:nvPr>
        </p:nvSpPr>
        <p:spPr/>
        <p:txBody>
          <a:bodyPr/>
          <a:lstStyle/>
          <a:p>
            <a:r>
              <a:rPr lang="en-US" b="1" dirty="0"/>
              <a:t>Airbnb:</a:t>
            </a:r>
            <a:r>
              <a:rPr lang="en-US" dirty="0"/>
              <a:t> monitoring service health</a:t>
            </a:r>
          </a:p>
          <a:p>
            <a:r>
              <a:rPr lang="en-US" b="1" dirty="0"/>
              <a:t>Uber:</a:t>
            </a:r>
            <a:r>
              <a:rPr lang="en-US" dirty="0"/>
              <a:t> rides data and surge pricing monitoring</a:t>
            </a:r>
          </a:p>
          <a:p>
            <a:r>
              <a:rPr lang="en-US" b="1" dirty="0"/>
              <a:t>Banking: </a:t>
            </a:r>
            <a:r>
              <a:rPr lang="en-US" dirty="0"/>
              <a:t>fraud detection and alert dashboards</a:t>
            </a:r>
          </a:p>
          <a:p>
            <a:r>
              <a:rPr lang="en-US" b="1" dirty="0"/>
              <a:t>Healthcare: </a:t>
            </a:r>
            <a:r>
              <a:rPr lang="en-US" dirty="0"/>
              <a:t>real-time patient data dashboards</a:t>
            </a:r>
          </a:p>
          <a:p>
            <a:r>
              <a:rPr lang="en-US" b="1" dirty="0"/>
              <a:t>E-commerce: </a:t>
            </a:r>
            <a:r>
              <a:rPr lang="en-US" dirty="0"/>
              <a:t>website visitors, sales, and errors</a:t>
            </a:r>
          </a:p>
        </p:txBody>
      </p:sp>
    </p:spTree>
    <p:extLst>
      <p:ext uri="{BB962C8B-B14F-4D97-AF65-F5344CB8AC3E}">
        <p14:creationId xmlns:p14="http://schemas.microsoft.com/office/powerpoint/2010/main" val="1950135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A92A7-23C5-C7CD-ADF5-C964D6BAF9BB}"/>
              </a:ext>
            </a:extLst>
          </p:cNvPr>
          <p:cNvSpPr>
            <a:spLocks noGrp="1"/>
          </p:cNvSpPr>
          <p:nvPr>
            <p:ph type="title"/>
          </p:nvPr>
        </p:nvSpPr>
        <p:spPr/>
        <p:txBody>
          <a:bodyPr>
            <a:normAutofit/>
          </a:bodyPr>
          <a:lstStyle/>
          <a:p>
            <a:r>
              <a:rPr lang="en-US" sz="3600" b="1" dirty="0"/>
              <a:t>Architecture of a Real-Time Dashboard</a:t>
            </a:r>
          </a:p>
        </p:txBody>
      </p:sp>
      <p:pic>
        <p:nvPicPr>
          <p:cNvPr id="5" name="Content Placeholder 4">
            <a:extLst>
              <a:ext uri="{FF2B5EF4-FFF2-40B4-BE49-F238E27FC236}">
                <a16:creationId xmlns:a16="http://schemas.microsoft.com/office/drawing/2014/main" id="{BA325268-69B7-B383-9A9D-9508339D1682}"/>
              </a:ext>
            </a:extLst>
          </p:cNvPr>
          <p:cNvPicPr>
            <a:picLocks noGrp="1" noChangeAspect="1"/>
          </p:cNvPicPr>
          <p:nvPr>
            <p:ph idx="1"/>
          </p:nvPr>
        </p:nvPicPr>
        <p:blipFill>
          <a:blip r:embed="rId2"/>
          <a:stretch>
            <a:fillRect/>
          </a:stretch>
        </p:blipFill>
        <p:spPr>
          <a:xfrm>
            <a:off x="2776776" y="1762995"/>
            <a:ext cx="2960145" cy="4285102"/>
          </a:xfrm>
          <a:prstGeom prst="rect">
            <a:avLst/>
          </a:prstGeom>
        </p:spPr>
      </p:pic>
      <p:sp>
        <p:nvSpPr>
          <p:cNvPr id="7" name="TextBox 6">
            <a:extLst>
              <a:ext uri="{FF2B5EF4-FFF2-40B4-BE49-F238E27FC236}">
                <a16:creationId xmlns:a16="http://schemas.microsoft.com/office/drawing/2014/main" id="{DB509294-9ED8-546A-E8CE-FBDFADA2099C}"/>
              </a:ext>
            </a:extLst>
          </p:cNvPr>
          <p:cNvSpPr txBox="1"/>
          <p:nvPr/>
        </p:nvSpPr>
        <p:spPr>
          <a:xfrm>
            <a:off x="5736921" y="4665325"/>
            <a:ext cx="5688382" cy="646331"/>
          </a:xfrm>
          <a:prstGeom prst="rect">
            <a:avLst/>
          </a:prstGeom>
          <a:noFill/>
        </p:spPr>
        <p:txBody>
          <a:bodyPr wrap="square">
            <a:spAutoFit/>
          </a:bodyPr>
          <a:lstStyle/>
          <a:p>
            <a:r>
              <a:rPr lang="en-US" dirty="0"/>
              <a:t>Eg: Website visits → sent to Elasticsearch → Kibana updates dashboard every second</a:t>
            </a:r>
          </a:p>
        </p:txBody>
      </p:sp>
    </p:spTree>
    <p:extLst>
      <p:ext uri="{BB962C8B-B14F-4D97-AF65-F5344CB8AC3E}">
        <p14:creationId xmlns:p14="http://schemas.microsoft.com/office/powerpoint/2010/main" val="4008453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D17F-948A-4863-1F8A-6505021C5A1A}"/>
              </a:ext>
            </a:extLst>
          </p:cNvPr>
          <p:cNvSpPr>
            <a:spLocks noGrp="1"/>
          </p:cNvSpPr>
          <p:nvPr>
            <p:ph type="title"/>
          </p:nvPr>
        </p:nvSpPr>
        <p:spPr/>
        <p:txBody>
          <a:bodyPr>
            <a:normAutofit/>
          </a:bodyPr>
          <a:lstStyle/>
          <a:p>
            <a:r>
              <a:rPr lang="en-US" sz="3600" b="1" dirty="0"/>
              <a:t>How Kibana Dashboards Work</a:t>
            </a:r>
          </a:p>
        </p:txBody>
      </p:sp>
      <p:sp>
        <p:nvSpPr>
          <p:cNvPr id="3" name="Content Placeholder 2">
            <a:extLst>
              <a:ext uri="{FF2B5EF4-FFF2-40B4-BE49-F238E27FC236}">
                <a16:creationId xmlns:a16="http://schemas.microsoft.com/office/drawing/2014/main" id="{05B0FA25-5B2E-F599-4A91-9A7691BC2C18}"/>
              </a:ext>
            </a:extLst>
          </p:cNvPr>
          <p:cNvSpPr>
            <a:spLocks noGrp="1"/>
          </p:cNvSpPr>
          <p:nvPr>
            <p:ph idx="1"/>
          </p:nvPr>
        </p:nvSpPr>
        <p:spPr/>
        <p:txBody>
          <a:bodyPr>
            <a:normAutofit/>
          </a:bodyPr>
          <a:lstStyle/>
          <a:p>
            <a:r>
              <a:rPr lang="en-US" dirty="0"/>
              <a:t>Connect to an Elasticsearch index</a:t>
            </a:r>
          </a:p>
          <a:p>
            <a:r>
              <a:rPr lang="en-US" dirty="0"/>
              <a:t>Visualize data using:</a:t>
            </a:r>
          </a:p>
          <a:p>
            <a:pPr lvl="1"/>
            <a:r>
              <a:rPr lang="en-US" dirty="0"/>
              <a:t>Line charts</a:t>
            </a:r>
          </a:p>
          <a:p>
            <a:pPr lvl="1"/>
            <a:r>
              <a:rPr lang="en-US" dirty="0"/>
              <a:t>Bar charts</a:t>
            </a:r>
          </a:p>
          <a:p>
            <a:pPr lvl="1"/>
            <a:r>
              <a:rPr lang="en-US" dirty="0"/>
              <a:t>Maps</a:t>
            </a:r>
          </a:p>
          <a:p>
            <a:pPr lvl="1"/>
            <a:r>
              <a:rPr lang="en-US" dirty="0"/>
              <a:t>Pie charts</a:t>
            </a:r>
          </a:p>
          <a:p>
            <a:pPr lvl="1"/>
            <a:r>
              <a:rPr lang="en-US" dirty="0"/>
              <a:t>Tables</a:t>
            </a:r>
          </a:p>
          <a:p>
            <a:r>
              <a:rPr lang="en-US" dirty="0"/>
              <a:t>Combine multiple visualizations into </a:t>
            </a:r>
            <a:r>
              <a:rPr lang="en-US"/>
              <a:t>one dashboard</a:t>
            </a:r>
          </a:p>
          <a:p>
            <a:r>
              <a:rPr lang="en-US"/>
              <a:t>Enable </a:t>
            </a:r>
            <a:r>
              <a:rPr lang="en-US" dirty="0"/>
              <a:t>auto-refresh (e.g., every 5 seconds)</a:t>
            </a:r>
          </a:p>
        </p:txBody>
      </p:sp>
    </p:spTree>
    <p:extLst>
      <p:ext uri="{BB962C8B-B14F-4D97-AF65-F5344CB8AC3E}">
        <p14:creationId xmlns:p14="http://schemas.microsoft.com/office/powerpoint/2010/main" val="2800256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EA50-AF41-B796-9C53-BF6646AE8F9A}"/>
              </a:ext>
            </a:extLst>
          </p:cNvPr>
          <p:cNvSpPr>
            <a:spLocks noGrp="1"/>
          </p:cNvSpPr>
          <p:nvPr>
            <p:ph type="title"/>
          </p:nvPr>
        </p:nvSpPr>
        <p:spPr/>
        <p:txBody>
          <a:bodyPr>
            <a:normAutofit/>
          </a:bodyPr>
          <a:lstStyle/>
          <a:p>
            <a:r>
              <a:rPr lang="en-US" sz="3600" b="1" dirty="0"/>
              <a:t>Demonstration Scenario</a:t>
            </a:r>
          </a:p>
        </p:txBody>
      </p:sp>
      <p:sp>
        <p:nvSpPr>
          <p:cNvPr id="3" name="Content Placeholder 2">
            <a:extLst>
              <a:ext uri="{FF2B5EF4-FFF2-40B4-BE49-F238E27FC236}">
                <a16:creationId xmlns:a16="http://schemas.microsoft.com/office/drawing/2014/main" id="{9851F36D-CC4F-F999-5A0E-4B4FCF25CFBD}"/>
              </a:ext>
            </a:extLst>
          </p:cNvPr>
          <p:cNvSpPr>
            <a:spLocks noGrp="1"/>
          </p:cNvSpPr>
          <p:nvPr>
            <p:ph idx="1"/>
          </p:nvPr>
        </p:nvSpPr>
        <p:spPr/>
        <p:txBody>
          <a:bodyPr/>
          <a:lstStyle/>
          <a:p>
            <a:r>
              <a:rPr lang="en-US" b="1" dirty="0"/>
              <a:t>Goal: </a:t>
            </a:r>
            <a:r>
              <a:rPr lang="en-US" dirty="0"/>
              <a:t>Show how a Kibana dashboard is created and updated in real time.</a:t>
            </a:r>
          </a:p>
          <a:p>
            <a:r>
              <a:rPr lang="en-US" b="1" dirty="0"/>
              <a:t>We will demonstrate: </a:t>
            </a:r>
          </a:p>
          <a:p>
            <a:pPr lvl="1"/>
            <a:r>
              <a:rPr lang="en-US" dirty="0"/>
              <a:t>Where to get data</a:t>
            </a:r>
          </a:p>
          <a:p>
            <a:pPr lvl="1"/>
            <a:r>
              <a:rPr lang="en-US" dirty="0"/>
              <a:t>How to load data into Kibana</a:t>
            </a:r>
          </a:p>
          <a:p>
            <a:pPr lvl="1"/>
            <a:r>
              <a:rPr lang="en-US" dirty="0"/>
              <a:t>How to create visualizations</a:t>
            </a:r>
          </a:p>
          <a:p>
            <a:pPr lvl="1"/>
            <a:r>
              <a:rPr lang="en-US" dirty="0"/>
              <a:t>How to build a real-time dashboard</a:t>
            </a:r>
          </a:p>
          <a:p>
            <a:pPr lvl="1"/>
            <a:r>
              <a:rPr lang="en-US" dirty="0"/>
              <a:t>How to turn </a:t>
            </a:r>
            <a:r>
              <a:rPr lang="en-US"/>
              <a:t>on auto-refresh</a:t>
            </a:r>
          </a:p>
          <a:p>
            <a:pPr lvl="1"/>
            <a:endParaRPr lang="en-US"/>
          </a:p>
          <a:p>
            <a:pPr marL="274320" lvl="1" indent="0">
              <a:buNone/>
            </a:pPr>
            <a:r>
              <a:rPr lang="en-US"/>
              <a:t>Below I will put the code and snips about how I created a Kibana dashboard and the result.</a:t>
            </a:r>
          </a:p>
          <a:p>
            <a:pPr marL="274320" lvl="1" indent="0">
              <a:buNone/>
            </a:pPr>
            <a:r>
              <a:rPr lang="en-US"/>
              <a:t>It was not included in the PPT because I was planning for a live demo.</a:t>
            </a:r>
          </a:p>
        </p:txBody>
      </p:sp>
    </p:spTree>
    <p:extLst>
      <p:ext uri="{BB962C8B-B14F-4D97-AF65-F5344CB8AC3E}">
        <p14:creationId xmlns:p14="http://schemas.microsoft.com/office/powerpoint/2010/main" val="381670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89C3-4B7C-9CF0-3460-D333F4C23C7D}"/>
              </a:ext>
            </a:extLst>
          </p:cNvPr>
          <p:cNvSpPr>
            <a:spLocks noGrp="1"/>
          </p:cNvSpPr>
          <p:nvPr>
            <p:ph type="title"/>
          </p:nvPr>
        </p:nvSpPr>
        <p:spPr/>
        <p:txBody>
          <a:bodyPr/>
          <a:lstStyle/>
          <a:p>
            <a:r>
              <a:rPr lang="en-US"/>
              <a:t>Code</a:t>
            </a:r>
          </a:p>
        </p:txBody>
      </p:sp>
      <p:sp>
        <p:nvSpPr>
          <p:cNvPr id="3" name="Content Placeholder 2">
            <a:extLst>
              <a:ext uri="{FF2B5EF4-FFF2-40B4-BE49-F238E27FC236}">
                <a16:creationId xmlns:a16="http://schemas.microsoft.com/office/drawing/2014/main" id="{E8A2725F-8620-0DCA-F01F-AA023EC0BCF7}"/>
              </a:ext>
            </a:extLst>
          </p:cNvPr>
          <p:cNvSpPr>
            <a:spLocks noGrp="1"/>
          </p:cNvSpPr>
          <p:nvPr>
            <p:ph idx="1"/>
          </p:nvPr>
        </p:nvSpPr>
        <p:spPr/>
        <p:txBody>
          <a:bodyPr>
            <a:normAutofit fontScale="55000" lnSpcReduction="20000"/>
          </a:bodyPr>
          <a:lstStyle/>
          <a:p>
            <a:pPr marL="0" indent="0">
              <a:buNone/>
            </a:pPr>
            <a:r>
              <a:rPr lang="en-US"/>
              <a:t>I used a python program to generate data to be visualized by Kibana.</a:t>
            </a:r>
          </a:p>
          <a:p>
            <a:endParaRPr lang="en-US"/>
          </a:p>
          <a:p>
            <a:pPr marL="0" indent="0">
              <a:buNone/>
            </a:pPr>
            <a:r>
              <a:rPr lang="en-US"/>
              <a:t>import random</a:t>
            </a:r>
          </a:p>
          <a:p>
            <a:pPr marL="0" indent="0">
              <a:buNone/>
            </a:pPr>
            <a:r>
              <a:rPr lang="en-US"/>
              <a:t>import time</a:t>
            </a:r>
          </a:p>
          <a:p>
            <a:pPr marL="0" indent="0">
              <a:buNone/>
            </a:pPr>
            <a:r>
              <a:rPr lang="en-US"/>
              <a:t>import requests</a:t>
            </a:r>
          </a:p>
          <a:p>
            <a:pPr marL="0" indent="0">
              <a:buNone/>
            </a:pPr>
            <a:r>
              <a:rPr lang="en-US"/>
              <a:t>from datetime import datetime</a:t>
            </a:r>
            <a:br>
              <a:rPr lang="en-US"/>
            </a:br>
            <a:endParaRPr lang="en-US"/>
          </a:p>
          <a:p>
            <a:pPr marL="0" indent="0">
              <a:buNone/>
            </a:pPr>
            <a:r>
              <a:rPr lang="en-US"/>
              <a:t>ELASTIC_URL = "https://my-elasticsearch-project-cfbc16.es.us-central1.gcp.elastic.cloud:443"</a:t>
            </a:r>
          </a:p>
          <a:p>
            <a:pPr marL="0" indent="0">
              <a:buNone/>
            </a:pPr>
            <a:r>
              <a:rPr lang="en-US"/>
              <a:t>API_KEY = "T3NDcEdac0I5ZURwWnFvd1FELWQ6RjZXT3h2WlBNenk3ZEVNaFdrSTFNdw=="</a:t>
            </a:r>
            <a:br>
              <a:rPr lang="en-US"/>
            </a:br>
            <a:endParaRPr lang="en-US"/>
          </a:p>
          <a:p>
            <a:pPr marL="0" indent="0">
              <a:buNone/>
            </a:pPr>
            <a:r>
              <a:rPr lang="en-US"/>
              <a:t>INDEX_NAME = "ecommerce-sales"</a:t>
            </a:r>
            <a:br>
              <a:rPr lang="en-US"/>
            </a:br>
            <a:endParaRPr lang="en-US"/>
          </a:p>
          <a:p>
            <a:pPr marL="0" indent="0">
              <a:buNone/>
            </a:pPr>
            <a:r>
              <a:rPr lang="en-US"/>
              <a:t>headers = {</a:t>
            </a:r>
          </a:p>
          <a:p>
            <a:pPr marL="0" indent="0">
              <a:buNone/>
            </a:pPr>
            <a:r>
              <a:rPr lang="en-US"/>
              <a:t>    "Authorization": f"ApiKey {API_KEY}",</a:t>
            </a:r>
          </a:p>
          <a:p>
            <a:pPr marL="0" indent="0">
              <a:buNone/>
            </a:pPr>
            <a:r>
              <a:rPr lang="en-US"/>
              <a:t>    "Content-Type": "application/json"</a:t>
            </a:r>
          </a:p>
          <a:p>
            <a:pPr marL="0" indent="0">
              <a:buNone/>
            </a:pPr>
            <a:r>
              <a:rPr lang="en-US"/>
              <a:t>}</a:t>
            </a:r>
          </a:p>
          <a:p>
            <a:pPr marL="0" indent="0">
              <a:buNone/>
            </a:pPr>
            <a:endParaRPr lang="en-US"/>
          </a:p>
        </p:txBody>
      </p:sp>
    </p:spTree>
    <p:extLst>
      <p:ext uri="{BB962C8B-B14F-4D97-AF65-F5344CB8AC3E}">
        <p14:creationId xmlns:p14="http://schemas.microsoft.com/office/powerpoint/2010/main" val="312197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DE9C1-B255-F2FC-E4C7-8BF24796995A}"/>
              </a:ext>
            </a:extLst>
          </p:cNvPr>
          <p:cNvSpPr>
            <a:spLocks noGrp="1"/>
          </p:cNvSpPr>
          <p:nvPr>
            <p:ph idx="1"/>
          </p:nvPr>
        </p:nvSpPr>
        <p:spPr>
          <a:xfrm>
            <a:off x="1069848" y="352425"/>
            <a:ext cx="10058400" cy="5819775"/>
          </a:xfrm>
        </p:spPr>
        <p:txBody>
          <a:bodyPr>
            <a:normAutofit fontScale="85000" lnSpcReduction="20000"/>
          </a:bodyPr>
          <a:lstStyle/>
          <a:p>
            <a:pPr marL="0" indent="0">
              <a:buNone/>
            </a:pPr>
            <a:r>
              <a:rPr lang="en-US"/>
              <a:t>product_catalog = [</a:t>
            </a:r>
          </a:p>
          <a:p>
            <a:pPr marL="0" indent="0">
              <a:buNone/>
            </a:pPr>
            <a:r>
              <a:rPr lang="en-US"/>
              <a:t>    {"name": "Laptop", "category": "Electronics", "price": 4500},</a:t>
            </a:r>
          </a:p>
          <a:p>
            <a:pPr marL="0" indent="0">
              <a:buNone/>
            </a:pPr>
            <a:r>
              <a:rPr lang="en-US"/>
              <a:t>    {"name": "Smartphone", "category": "Electronics", "price": 2800},</a:t>
            </a:r>
          </a:p>
          <a:p>
            <a:pPr marL="0" indent="0">
              <a:buNone/>
            </a:pPr>
            <a:r>
              <a:rPr lang="en-US"/>
              <a:t>    {"name": "Headphones", "category": "Electronics", "price": 450},</a:t>
            </a:r>
          </a:p>
          <a:p>
            <a:pPr marL="0" indent="0">
              <a:buNone/>
            </a:pPr>
            <a:r>
              <a:rPr lang="en-US"/>
              <a:t>    {"name": "T-shirt", "category": "Clothing", "price": 120},</a:t>
            </a:r>
          </a:p>
          <a:p>
            <a:pPr marL="0" indent="0">
              <a:buNone/>
            </a:pPr>
            <a:r>
              <a:rPr lang="en-US"/>
              <a:t>    {"name": "Jeans", "category": "Clothing", "price": 250},</a:t>
            </a:r>
          </a:p>
          <a:p>
            <a:pPr marL="0" indent="0">
              <a:buNone/>
            </a:pPr>
            <a:r>
              <a:rPr lang="en-US"/>
              <a:t>    {"name": "Sneakers", "category": "Clothing", "price": 480},</a:t>
            </a:r>
          </a:p>
          <a:p>
            <a:pPr marL="0" indent="0">
              <a:buNone/>
            </a:pPr>
            <a:r>
              <a:rPr lang="en-US"/>
              <a:t>    {"name": "Coffee Machine", "category": "Home Appliances", "price": 900},</a:t>
            </a:r>
          </a:p>
          <a:p>
            <a:pPr marL="0" indent="0">
              <a:buNone/>
            </a:pPr>
            <a:r>
              <a:rPr lang="en-US"/>
              <a:t>    {"name": "Vacuum Cleaner", "category": "Home Appliances", "price": 1100},</a:t>
            </a:r>
          </a:p>
          <a:p>
            <a:pPr marL="0" indent="0">
              <a:buNone/>
            </a:pPr>
            <a:r>
              <a:rPr lang="en-US"/>
              <a:t>    {"name": "Book", "category": "Books", "price": 80},</a:t>
            </a:r>
          </a:p>
          <a:p>
            <a:pPr marL="0" indent="0">
              <a:buNone/>
            </a:pPr>
            <a:r>
              <a:rPr lang="en-US"/>
              <a:t>    {"name": "Backpack", "category": "Accessories", "price": 200},</a:t>
            </a:r>
          </a:p>
          <a:p>
            <a:pPr marL="0" indent="0">
              <a:buNone/>
            </a:pPr>
            <a:r>
              <a:rPr lang="en-US"/>
              <a:t>]</a:t>
            </a:r>
          </a:p>
          <a:p>
            <a:pPr marL="0" indent="0">
              <a:buNone/>
            </a:pPr>
            <a:br>
              <a:rPr lang="en-US"/>
            </a:br>
            <a:endParaRPr lang="en-US"/>
          </a:p>
          <a:p>
            <a:pPr marL="0" indent="0">
              <a:buNone/>
            </a:pPr>
            <a:r>
              <a:rPr lang="en-US"/>
              <a:t>countries = ["Romania", "Germany", "France", "UK", "Italy"]</a:t>
            </a:r>
          </a:p>
          <a:p>
            <a:pPr marL="0" indent="0">
              <a:buNone/>
            </a:pPr>
            <a:r>
              <a:rPr lang="en-US"/>
              <a:t>cities = ["Bucharest", "Berlin", "Paris", "London", "Rome"]</a:t>
            </a:r>
          </a:p>
          <a:p>
            <a:pPr marL="0" indent="0">
              <a:buNone/>
            </a:pPr>
            <a:r>
              <a:rPr lang="en-US"/>
              <a:t>payment_methods = ["Card", "Cash on Delivery", "PayPal"]</a:t>
            </a:r>
          </a:p>
          <a:p>
            <a:pPr marL="0" indent="0">
              <a:buNone/>
            </a:pPr>
            <a:r>
              <a:rPr lang="en-US"/>
              <a:t>order_statuses = ["Completed", "Pending", "Cancelled"]</a:t>
            </a:r>
          </a:p>
          <a:p>
            <a:pPr marL="0" indent="0">
              <a:buNone/>
            </a:pPr>
            <a:endParaRPr lang="en-US"/>
          </a:p>
        </p:txBody>
      </p:sp>
    </p:spTree>
    <p:extLst>
      <p:ext uri="{BB962C8B-B14F-4D97-AF65-F5344CB8AC3E}">
        <p14:creationId xmlns:p14="http://schemas.microsoft.com/office/powerpoint/2010/main" val="56351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3F28A4-4245-EA7E-1B79-6FB8E54E7A06}"/>
              </a:ext>
            </a:extLst>
          </p:cNvPr>
          <p:cNvSpPr>
            <a:spLocks noGrp="1"/>
          </p:cNvSpPr>
          <p:nvPr>
            <p:ph sz="half" idx="1"/>
          </p:nvPr>
        </p:nvSpPr>
        <p:spPr>
          <a:xfrm>
            <a:off x="0" y="0"/>
            <a:ext cx="5824728" cy="6191250"/>
          </a:xfrm>
        </p:spPr>
        <p:txBody>
          <a:bodyPr>
            <a:normAutofit fontScale="85000" lnSpcReduction="20000"/>
          </a:bodyPr>
          <a:lstStyle/>
          <a:p>
            <a:pPr marL="0" indent="0">
              <a:buNone/>
            </a:pPr>
            <a:r>
              <a:rPr lang="en-US"/>
              <a:t>def generate_sale():</a:t>
            </a:r>
          </a:p>
          <a:p>
            <a:pPr marL="0" indent="0">
              <a:buNone/>
            </a:pPr>
            <a:r>
              <a:rPr lang="en-US"/>
              <a:t>    product = random.choice(product_catalog)</a:t>
            </a:r>
          </a:p>
          <a:p>
            <a:pPr marL="0" indent="0">
              <a:buNone/>
            </a:pPr>
            <a:r>
              <a:rPr lang="en-US"/>
              <a:t>    quantity = random.randint(1, 4)</a:t>
            </a:r>
          </a:p>
          <a:p>
            <a:pPr marL="0" indent="0">
              <a:buNone/>
            </a:pPr>
            <a:r>
              <a:rPr lang="en-US"/>
              <a:t>    total_price = product["price"] * quantity</a:t>
            </a:r>
          </a:p>
          <a:p>
            <a:pPr marL="0" indent="0">
              <a:buNone/>
            </a:pPr>
            <a:br>
              <a:rPr lang="en-US"/>
            </a:br>
            <a:endParaRPr lang="en-US"/>
          </a:p>
          <a:p>
            <a:pPr marL="0" indent="0">
              <a:buNone/>
            </a:pPr>
            <a:r>
              <a:rPr lang="en-US"/>
              <a:t>    return {</a:t>
            </a:r>
          </a:p>
          <a:p>
            <a:pPr marL="0" indent="0">
              <a:buNone/>
            </a:pPr>
            <a:r>
              <a:rPr lang="en-US"/>
              <a:t>        "timestamp": datetime.utcnow().isoformat(),</a:t>
            </a:r>
          </a:p>
          <a:p>
            <a:pPr marL="0" indent="0">
              <a:buNone/>
            </a:pPr>
            <a:r>
              <a:rPr lang="en-US"/>
              <a:t>        "order_id": random.randint(100000, 999999),</a:t>
            </a:r>
          </a:p>
          <a:p>
            <a:pPr marL="0" indent="0">
              <a:buNone/>
            </a:pPr>
            <a:r>
              <a:rPr lang="en-US"/>
              <a:t>        "product_name": product["name"],</a:t>
            </a:r>
          </a:p>
          <a:p>
            <a:pPr marL="0" indent="0">
              <a:buNone/>
            </a:pPr>
            <a:r>
              <a:rPr lang="en-US"/>
              <a:t>        "category": product["category"],</a:t>
            </a:r>
          </a:p>
          <a:p>
            <a:pPr marL="0" indent="0">
              <a:buNone/>
            </a:pPr>
            <a:r>
              <a:rPr lang="en-US"/>
              <a:t>        "unit_price": product["price"],</a:t>
            </a:r>
          </a:p>
          <a:p>
            <a:pPr marL="0" indent="0">
              <a:buNone/>
            </a:pPr>
            <a:r>
              <a:rPr lang="en-US"/>
              <a:t>        "quantity": quantity,</a:t>
            </a:r>
          </a:p>
          <a:p>
            <a:pPr marL="0" indent="0">
              <a:buNone/>
            </a:pPr>
            <a:r>
              <a:rPr lang="en-US"/>
              <a:t>        "total_price": total_price,</a:t>
            </a:r>
          </a:p>
          <a:p>
            <a:pPr marL="0" indent="0">
              <a:buNone/>
            </a:pPr>
            <a:r>
              <a:rPr lang="en-US"/>
              <a:t>        "payment_method": random.choice(payment_methods),</a:t>
            </a:r>
          </a:p>
          <a:p>
            <a:pPr marL="0" indent="0">
              <a:buNone/>
            </a:pPr>
            <a:r>
              <a:rPr lang="en-US"/>
              <a:t>        "order_status": random.choices(</a:t>
            </a:r>
          </a:p>
          <a:p>
            <a:pPr marL="0" indent="0">
              <a:buNone/>
            </a:pPr>
            <a:r>
              <a:rPr lang="en-US"/>
              <a:t>            order_statuses, weights=[0.8, 0.15, 0.05]</a:t>
            </a:r>
          </a:p>
          <a:p>
            <a:pPr marL="0" indent="0">
              <a:buNone/>
            </a:pPr>
            <a:r>
              <a:rPr lang="en-US"/>
              <a:t>        )[0],</a:t>
            </a:r>
          </a:p>
          <a:p>
            <a:pPr marL="0" indent="0">
              <a:buNone/>
            </a:pPr>
            <a:endParaRPr lang="en-US"/>
          </a:p>
        </p:txBody>
      </p:sp>
      <p:sp>
        <p:nvSpPr>
          <p:cNvPr id="4" name="Content Placeholder 3">
            <a:extLst>
              <a:ext uri="{FF2B5EF4-FFF2-40B4-BE49-F238E27FC236}">
                <a16:creationId xmlns:a16="http://schemas.microsoft.com/office/drawing/2014/main" id="{AE7EDFB7-CEE9-E769-D707-E41B73820F66}"/>
              </a:ext>
            </a:extLst>
          </p:cNvPr>
          <p:cNvSpPr>
            <a:spLocks noGrp="1"/>
          </p:cNvSpPr>
          <p:nvPr>
            <p:ph sz="half" idx="2"/>
          </p:nvPr>
        </p:nvSpPr>
        <p:spPr>
          <a:xfrm>
            <a:off x="5824728" y="0"/>
            <a:ext cx="6367272" cy="6191250"/>
          </a:xfrm>
        </p:spPr>
        <p:txBody>
          <a:bodyPr>
            <a:normAutofit fontScale="85000" lnSpcReduction="20000"/>
          </a:bodyPr>
          <a:lstStyle/>
          <a:p>
            <a:pPr marL="0" indent="0">
              <a:buNone/>
            </a:pPr>
            <a:r>
              <a:rPr lang="en-US"/>
              <a:t>      "buyer": {</a:t>
            </a:r>
          </a:p>
          <a:p>
            <a:pPr marL="0" indent="0">
              <a:buNone/>
            </a:pPr>
            <a:r>
              <a:rPr lang="en-US"/>
              <a:t>            "buyer_id": random.randint(1, 1000),</a:t>
            </a:r>
          </a:p>
          <a:p>
            <a:pPr marL="0" indent="0">
              <a:buNone/>
            </a:pPr>
            <a:r>
              <a:rPr lang="en-US"/>
              <a:t>            "age": random.randint(18, 70),</a:t>
            </a:r>
          </a:p>
          <a:p>
            <a:pPr marL="0" indent="0">
              <a:buNone/>
            </a:pPr>
            <a:r>
              <a:rPr lang="en-US"/>
              <a:t>            "country": random.choice(countries),</a:t>
            </a:r>
          </a:p>
          <a:p>
            <a:pPr marL="0" indent="0">
              <a:buNone/>
            </a:pPr>
            <a:r>
              <a:rPr lang="en-US"/>
              <a:t>            "city": random.choice(cities),</a:t>
            </a:r>
          </a:p>
          <a:p>
            <a:pPr marL="0" indent="0">
              <a:buNone/>
            </a:pPr>
            <a:r>
              <a:rPr lang="en-US"/>
              <a:t>        },</a:t>
            </a:r>
          </a:p>
          <a:p>
            <a:pPr marL="0" indent="0">
              <a:buNone/>
            </a:pPr>
            <a:r>
              <a:rPr lang="en-US"/>
              <a:t>        "delivery_address": {</a:t>
            </a:r>
          </a:p>
          <a:p>
            <a:pPr marL="0" indent="0">
              <a:buNone/>
            </a:pPr>
            <a:r>
              <a:rPr lang="en-US"/>
              <a:t>            "street": f"Street {random.randint(1, 100)}",</a:t>
            </a:r>
          </a:p>
          <a:p>
            <a:pPr marL="0" indent="0">
              <a:buNone/>
            </a:pPr>
            <a:r>
              <a:rPr lang="en-US"/>
              <a:t>            "city": random.choice(cities),</a:t>
            </a:r>
          </a:p>
          <a:p>
            <a:pPr marL="0" indent="0">
              <a:buNone/>
            </a:pPr>
            <a:r>
              <a:rPr lang="en-US"/>
              <a:t>            "country": random.choice(countries),</a:t>
            </a:r>
          </a:p>
          <a:p>
            <a:pPr marL="0" indent="0">
              <a:buNone/>
            </a:pPr>
            <a:r>
              <a:rPr lang="en-US"/>
              <a:t>            "postal_code": f"{random.randint(10000,99999)}"</a:t>
            </a:r>
          </a:p>
          <a:p>
            <a:pPr marL="0" indent="0">
              <a:buNone/>
            </a:pPr>
            <a:r>
              <a:rPr lang="en-US"/>
              <a:t>        }</a:t>
            </a:r>
          </a:p>
          <a:p>
            <a:pPr marL="0" indent="0">
              <a:buNone/>
            </a:pPr>
            <a:r>
              <a:rPr lang="en-US"/>
              <a:t>    }</a:t>
            </a:r>
          </a:p>
          <a:p>
            <a:pPr marL="0" indent="0">
              <a:buNone/>
            </a:pPr>
            <a:endParaRPr lang="en-US"/>
          </a:p>
        </p:txBody>
      </p:sp>
    </p:spTree>
    <p:extLst>
      <p:ext uri="{BB962C8B-B14F-4D97-AF65-F5344CB8AC3E}">
        <p14:creationId xmlns:p14="http://schemas.microsoft.com/office/powerpoint/2010/main" val="428702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94D83-E597-6B08-98BA-99F8E21E81BE}"/>
              </a:ext>
            </a:extLst>
          </p:cNvPr>
          <p:cNvSpPr>
            <a:spLocks noGrp="1"/>
          </p:cNvSpPr>
          <p:nvPr>
            <p:ph idx="1"/>
          </p:nvPr>
        </p:nvSpPr>
        <p:spPr>
          <a:xfrm>
            <a:off x="1069848" y="76200"/>
            <a:ext cx="10058400" cy="6096000"/>
          </a:xfrm>
        </p:spPr>
        <p:txBody>
          <a:bodyPr/>
          <a:lstStyle/>
          <a:p>
            <a:pPr marL="0" indent="0">
              <a:buNone/>
            </a:pPr>
            <a:r>
              <a:rPr lang="en-US"/>
              <a:t>while True:</a:t>
            </a:r>
          </a:p>
          <a:p>
            <a:pPr marL="0" indent="0">
              <a:buNone/>
            </a:pPr>
            <a:r>
              <a:rPr lang="en-US"/>
              <a:t>    sale = generate_sale()</a:t>
            </a:r>
            <a:br>
              <a:rPr lang="en-US"/>
            </a:br>
            <a:endParaRPr lang="en-US"/>
          </a:p>
          <a:p>
            <a:pPr marL="0" indent="0">
              <a:buNone/>
            </a:pPr>
            <a:r>
              <a:rPr lang="en-US"/>
              <a:t>    response = requests.post(</a:t>
            </a:r>
          </a:p>
          <a:p>
            <a:pPr marL="0" indent="0">
              <a:buNone/>
            </a:pPr>
            <a:r>
              <a:rPr lang="en-US"/>
              <a:t>        f"{ELASTIC_URL}/{INDEX_NAME}/_doc",</a:t>
            </a:r>
          </a:p>
          <a:p>
            <a:pPr marL="0" indent="0">
              <a:buNone/>
            </a:pPr>
            <a:r>
              <a:rPr lang="en-US"/>
              <a:t>        headers=headers,</a:t>
            </a:r>
          </a:p>
          <a:p>
            <a:pPr marL="0" indent="0">
              <a:buNone/>
            </a:pPr>
            <a:r>
              <a:rPr lang="en-US"/>
              <a:t>        json=sale</a:t>
            </a:r>
          </a:p>
          <a:p>
            <a:pPr marL="0" indent="0">
              <a:buNone/>
            </a:pPr>
            <a:r>
              <a:rPr lang="en-US"/>
              <a:t>    )</a:t>
            </a:r>
            <a:br>
              <a:rPr lang="en-US"/>
            </a:br>
            <a:endParaRPr lang="en-US"/>
          </a:p>
          <a:p>
            <a:pPr marL="0" indent="0">
              <a:buNone/>
            </a:pPr>
            <a:r>
              <a:rPr lang="en-US"/>
              <a:t>    print("Sent sale:", sale)</a:t>
            </a:r>
          </a:p>
          <a:p>
            <a:pPr marL="0" indent="0">
              <a:buNone/>
            </a:pPr>
            <a:r>
              <a:rPr lang="en-US"/>
              <a:t>    time.sleep(3)</a:t>
            </a:r>
          </a:p>
          <a:p>
            <a:pPr marL="0" indent="0">
              <a:buNone/>
            </a:pPr>
            <a:endParaRPr lang="en-US"/>
          </a:p>
        </p:txBody>
      </p:sp>
    </p:spTree>
    <p:extLst>
      <p:ext uri="{BB962C8B-B14F-4D97-AF65-F5344CB8AC3E}">
        <p14:creationId xmlns:p14="http://schemas.microsoft.com/office/powerpoint/2010/main" val="3937980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10D97-C4DB-E616-07E4-B3F8E7C24E70}"/>
              </a:ext>
            </a:extLst>
          </p:cNvPr>
          <p:cNvPicPr>
            <a:picLocks noChangeAspect="1"/>
          </p:cNvPicPr>
          <p:nvPr/>
        </p:nvPicPr>
        <p:blipFill>
          <a:blip r:embed="rId2"/>
          <a:stretch>
            <a:fillRect/>
          </a:stretch>
        </p:blipFill>
        <p:spPr>
          <a:xfrm>
            <a:off x="135600" y="150257"/>
            <a:ext cx="11380125" cy="6085255"/>
          </a:xfrm>
          <a:prstGeom prst="rect">
            <a:avLst/>
          </a:prstGeom>
        </p:spPr>
      </p:pic>
    </p:spTree>
    <p:extLst>
      <p:ext uri="{BB962C8B-B14F-4D97-AF65-F5344CB8AC3E}">
        <p14:creationId xmlns:p14="http://schemas.microsoft.com/office/powerpoint/2010/main" val="748764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27DE25-D9FB-1FF3-A5A4-3B1503D28489}"/>
              </a:ext>
            </a:extLst>
          </p:cNvPr>
          <p:cNvPicPr>
            <a:picLocks noChangeAspect="1"/>
          </p:cNvPicPr>
          <p:nvPr/>
        </p:nvPicPr>
        <p:blipFill>
          <a:blip r:embed="rId2"/>
          <a:stretch>
            <a:fillRect/>
          </a:stretch>
        </p:blipFill>
        <p:spPr>
          <a:xfrm>
            <a:off x="129498" y="166112"/>
            <a:ext cx="11300069" cy="6101337"/>
          </a:xfrm>
          <a:prstGeom prst="rect">
            <a:avLst/>
          </a:prstGeom>
        </p:spPr>
      </p:pic>
    </p:spTree>
    <p:extLst>
      <p:ext uri="{BB962C8B-B14F-4D97-AF65-F5344CB8AC3E}">
        <p14:creationId xmlns:p14="http://schemas.microsoft.com/office/powerpoint/2010/main" val="3448904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B1F298-55EF-A856-623B-37B5EC55B64B}"/>
              </a:ext>
            </a:extLst>
          </p:cNvPr>
          <p:cNvPicPr>
            <a:picLocks noChangeAspect="1"/>
          </p:cNvPicPr>
          <p:nvPr/>
        </p:nvPicPr>
        <p:blipFill>
          <a:blip r:embed="rId2"/>
          <a:stretch>
            <a:fillRect/>
          </a:stretch>
        </p:blipFill>
        <p:spPr>
          <a:xfrm>
            <a:off x="133350" y="156994"/>
            <a:ext cx="11296650" cy="6091406"/>
          </a:xfrm>
          <a:prstGeom prst="rect">
            <a:avLst/>
          </a:prstGeom>
        </p:spPr>
      </p:pic>
    </p:spTree>
    <p:extLst>
      <p:ext uri="{BB962C8B-B14F-4D97-AF65-F5344CB8AC3E}">
        <p14:creationId xmlns:p14="http://schemas.microsoft.com/office/powerpoint/2010/main" val="3577674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DD38A-50FE-1BE1-6E59-71CCCBC69935}"/>
              </a:ext>
            </a:extLst>
          </p:cNvPr>
          <p:cNvSpPr>
            <a:spLocks noGrp="1"/>
          </p:cNvSpPr>
          <p:nvPr>
            <p:ph idx="1"/>
          </p:nvPr>
        </p:nvSpPr>
        <p:spPr>
          <a:xfrm>
            <a:off x="660273" y="235458"/>
            <a:ext cx="10058400" cy="707517"/>
          </a:xfrm>
        </p:spPr>
        <p:txBody>
          <a:bodyPr/>
          <a:lstStyle/>
          <a:p>
            <a:pPr marL="0" indent="0">
              <a:buNone/>
            </a:pPr>
            <a:r>
              <a:rPr lang="en-US"/>
              <a:t>From here I took the endpoint and the API key for the python code implementation with Elastic in order to be able to link it with Kibana later.</a:t>
            </a:r>
          </a:p>
        </p:txBody>
      </p:sp>
      <p:pic>
        <p:nvPicPr>
          <p:cNvPr id="5" name="Picture 4">
            <a:extLst>
              <a:ext uri="{FF2B5EF4-FFF2-40B4-BE49-F238E27FC236}">
                <a16:creationId xmlns:a16="http://schemas.microsoft.com/office/drawing/2014/main" id="{6598644E-F7BD-AF2E-0FC4-36BD3D183ABF}"/>
              </a:ext>
            </a:extLst>
          </p:cNvPr>
          <p:cNvPicPr>
            <a:picLocks noChangeAspect="1"/>
          </p:cNvPicPr>
          <p:nvPr/>
        </p:nvPicPr>
        <p:blipFill>
          <a:blip r:embed="rId2"/>
          <a:stretch>
            <a:fillRect/>
          </a:stretch>
        </p:blipFill>
        <p:spPr>
          <a:xfrm>
            <a:off x="660273" y="1011955"/>
            <a:ext cx="10984996" cy="5093569"/>
          </a:xfrm>
          <a:prstGeom prst="rect">
            <a:avLst/>
          </a:prstGeom>
        </p:spPr>
      </p:pic>
    </p:spTree>
    <p:extLst>
      <p:ext uri="{BB962C8B-B14F-4D97-AF65-F5344CB8AC3E}">
        <p14:creationId xmlns:p14="http://schemas.microsoft.com/office/powerpoint/2010/main" val="2118977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207D-C62A-BD33-0631-528F0B6E76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E9A43C-E3FB-E5EC-8810-0E9728722802}"/>
              </a:ext>
            </a:extLst>
          </p:cNvPr>
          <p:cNvSpPr>
            <a:spLocks noGrp="1"/>
          </p:cNvSpPr>
          <p:nvPr>
            <p:ph idx="1"/>
          </p:nvPr>
        </p:nvSpPr>
        <p:spPr>
          <a:xfrm>
            <a:off x="660273" y="235458"/>
            <a:ext cx="10058400" cy="768011"/>
          </a:xfrm>
        </p:spPr>
        <p:txBody>
          <a:bodyPr/>
          <a:lstStyle/>
          <a:p>
            <a:pPr marL="0" indent="0">
              <a:buNone/>
            </a:pPr>
            <a:r>
              <a:rPr lang="en-US"/>
              <a:t>Here I created the necessary dataview for the Dashboard. This way I finished linking Kibana with my data from the python program.</a:t>
            </a:r>
          </a:p>
        </p:txBody>
      </p:sp>
      <p:pic>
        <p:nvPicPr>
          <p:cNvPr id="4" name="Picture 3">
            <a:extLst>
              <a:ext uri="{FF2B5EF4-FFF2-40B4-BE49-F238E27FC236}">
                <a16:creationId xmlns:a16="http://schemas.microsoft.com/office/drawing/2014/main" id="{9B60F6D0-0078-D00C-A47F-6B3509C38CBA}"/>
              </a:ext>
            </a:extLst>
          </p:cNvPr>
          <p:cNvPicPr>
            <a:picLocks noChangeAspect="1"/>
          </p:cNvPicPr>
          <p:nvPr/>
        </p:nvPicPr>
        <p:blipFill>
          <a:blip r:embed="rId2"/>
          <a:stretch>
            <a:fillRect/>
          </a:stretch>
        </p:blipFill>
        <p:spPr>
          <a:xfrm>
            <a:off x="353644" y="1003469"/>
            <a:ext cx="11371632" cy="4851062"/>
          </a:xfrm>
          <a:prstGeom prst="rect">
            <a:avLst/>
          </a:prstGeom>
        </p:spPr>
      </p:pic>
    </p:spTree>
    <p:extLst>
      <p:ext uri="{BB962C8B-B14F-4D97-AF65-F5344CB8AC3E}">
        <p14:creationId xmlns:p14="http://schemas.microsoft.com/office/powerpoint/2010/main" val="294632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C5C0-E7FE-8354-476E-11EB0D57D8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BAE60-275C-7A71-474A-74DFD81B247A}"/>
              </a:ext>
            </a:extLst>
          </p:cNvPr>
          <p:cNvSpPr>
            <a:spLocks noGrp="1"/>
          </p:cNvSpPr>
          <p:nvPr>
            <p:ph idx="1"/>
          </p:nvPr>
        </p:nvSpPr>
        <p:spPr>
          <a:xfrm>
            <a:off x="660273" y="235458"/>
            <a:ext cx="10058400" cy="707517"/>
          </a:xfrm>
        </p:spPr>
        <p:txBody>
          <a:bodyPr/>
          <a:lstStyle/>
          <a:p>
            <a:pPr marL="0" indent="0">
              <a:buNone/>
            </a:pPr>
            <a:r>
              <a:rPr lang="en-US"/>
              <a:t>After clicking: Dashboards -&gt; Create Dashboard -&gt; Create Visualization I get to the below page where I add visualizations to populate the dashboard</a:t>
            </a:r>
          </a:p>
        </p:txBody>
      </p:sp>
      <p:pic>
        <p:nvPicPr>
          <p:cNvPr id="5" name="Picture 4">
            <a:extLst>
              <a:ext uri="{FF2B5EF4-FFF2-40B4-BE49-F238E27FC236}">
                <a16:creationId xmlns:a16="http://schemas.microsoft.com/office/drawing/2014/main" id="{4CBBE195-64E9-4785-8A2C-12B57724D65E}"/>
              </a:ext>
            </a:extLst>
          </p:cNvPr>
          <p:cNvPicPr>
            <a:picLocks noChangeAspect="1"/>
          </p:cNvPicPr>
          <p:nvPr/>
        </p:nvPicPr>
        <p:blipFill>
          <a:blip r:embed="rId2"/>
          <a:stretch>
            <a:fillRect/>
          </a:stretch>
        </p:blipFill>
        <p:spPr>
          <a:xfrm>
            <a:off x="200025" y="812600"/>
            <a:ext cx="11613312" cy="5232799"/>
          </a:xfrm>
          <a:prstGeom prst="rect">
            <a:avLst/>
          </a:prstGeom>
        </p:spPr>
      </p:pic>
    </p:spTree>
    <p:extLst>
      <p:ext uri="{BB962C8B-B14F-4D97-AF65-F5344CB8AC3E}">
        <p14:creationId xmlns:p14="http://schemas.microsoft.com/office/powerpoint/2010/main" val="820062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E7CF5-35A4-44DF-7FB2-2613FC4B85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D9C4A-B1A6-A30C-8983-FA6C484736B6}"/>
              </a:ext>
            </a:extLst>
          </p:cNvPr>
          <p:cNvSpPr>
            <a:spLocks noGrp="1"/>
          </p:cNvSpPr>
          <p:nvPr>
            <p:ph idx="1"/>
          </p:nvPr>
        </p:nvSpPr>
        <p:spPr>
          <a:xfrm>
            <a:off x="660273" y="235458"/>
            <a:ext cx="10058400" cy="707517"/>
          </a:xfrm>
        </p:spPr>
        <p:txBody>
          <a:bodyPr>
            <a:normAutofit fontScale="85000" lnSpcReduction="20000"/>
          </a:bodyPr>
          <a:lstStyle/>
          <a:p>
            <a:pPr marL="0" indent="0">
              <a:buNone/>
            </a:pPr>
            <a:r>
              <a:rPr lang="en-US"/>
              <a:t>From this cascade menu we can select certain visualisations and to create them like the simple pie chart you see in the second image. After pressing Save and return the visualization will be saved in the dashboard and so we can populate it with multiple visualizations.</a:t>
            </a:r>
          </a:p>
        </p:txBody>
      </p:sp>
      <p:pic>
        <p:nvPicPr>
          <p:cNvPr id="4" name="Picture 3">
            <a:extLst>
              <a:ext uri="{FF2B5EF4-FFF2-40B4-BE49-F238E27FC236}">
                <a16:creationId xmlns:a16="http://schemas.microsoft.com/office/drawing/2014/main" id="{17B68F3B-FD78-4293-5DF8-495AAC054BDF}"/>
              </a:ext>
            </a:extLst>
          </p:cNvPr>
          <p:cNvPicPr>
            <a:picLocks noChangeAspect="1"/>
          </p:cNvPicPr>
          <p:nvPr/>
        </p:nvPicPr>
        <p:blipFill>
          <a:blip r:embed="rId2"/>
          <a:stretch>
            <a:fillRect/>
          </a:stretch>
        </p:blipFill>
        <p:spPr>
          <a:xfrm>
            <a:off x="0" y="942975"/>
            <a:ext cx="3659973" cy="3867150"/>
          </a:xfrm>
          <a:prstGeom prst="rect">
            <a:avLst/>
          </a:prstGeom>
        </p:spPr>
      </p:pic>
      <p:pic>
        <p:nvPicPr>
          <p:cNvPr id="7" name="Picture 6">
            <a:extLst>
              <a:ext uri="{FF2B5EF4-FFF2-40B4-BE49-F238E27FC236}">
                <a16:creationId xmlns:a16="http://schemas.microsoft.com/office/drawing/2014/main" id="{F368E983-A803-AE0D-8CC2-35F8F16D1166}"/>
              </a:ext>
            </a:extLst>
          </p:cNvPr>
          <p:cNvPicPr>
            <a:picLocks noChangeAspect="1"/>
          </p:cNvPicPr>
          <p:nvPr/>
        </p:nvPicPr>
        <p:blipFill>
          <a:blip r:embed="rId3"/>
          <a:stretch>
            <a:fillRect/>
          </a:stretch>
        </p:blipFill>
        <p:spPr>
          <a:xfrm>
            <a:off x="3726093" y="942974"/>
            <a:ext cx="8246832" cy="5172075"/>
          </a:xfrm>
          <a:prstGeom prst="rect">
            <a:avLst/>
          </a:prstGeom>
        </p:spPr>
      </p:pic>
    </p:spTree>
    <p:extLst>
      <p:ext uri="{BB962C8B-B14F-4D97-AF65-F5344CB8AC3E}">
        <p14:creationId xmlns:p14="http://schemas.microsoft.com/office/powerpoint/2010/main" val="1690454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03CF-2AA4-C68B-A477-68C6E4E015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86DEA0-2488-AC9A-2232-036E2FA32480}"/>
              </a:ext>
            </a:extLst>
          </p:cNvPr>
          <p:cNvSpPr>
            <a:spLocks noGrp="1"/>
          </p:cNvSpPr>
          <p:nvPr>
            <p:ph idx="1"/>
          </p:nvPr>
        </p:nvSpPr>
        <p:spPr>
          <a:xfrm>
            <a:off x="660273" y="235458"/>
            <a:ext cx="10058400" cy="707517"/>
          </a:xfrm>
        </p:spPr>
        <p:txBody>
          <a:bodyPr>
            <a:normAutofit/>
          </a:bodyPr>
          <a:lstStyle/>
          <a:p>
            <a:pPr marL="0" indent="0">
              <a:buNone/>
            </a:pPr>
            <a:r>
              <a:rPr lang="en-US"/>
              <a:t>After populating the dashboard with different types of visualizations and setting the refresh to 5 seconds it looks like this</a:t>
            </a:r>
          </a:p>
        </p:txBody>
      </p:sp>
      <p:pic>
        <p:nvPicPr>
          <p:cNvPr id="5" name="Picture 4">
            <a:extLst>
              <a:ext uri="{FF2B5EF4-FFF2-40B4-BE49-F238E27FC236}">
                <a16:creationId xmlns:a16="http://schemas.microsoft.com/office/drawing/2014/main" id="{847EA07B-B501-5669-D2D0-97DF8CC703A5}"/>
              </a:ext>
            </a:extLst>
          </p:cNvPr>
          <p:cNvPicPr>
            <a:picLocks noChangeAspect="1"/>
          </p:cNvPicPr>
          <p:nvPr/>
        </p:nvPicPr>
        <p:blipFill>
          <a:blip r:embed="rId2"/>
          <a:stretch>
            <a:fillRect/>
          </a:stretch>
        </p:blipFill>
        <p:spPr>
          <a:xfrm>
            <a:off x="533400" y="880780"/>
            <a:ext cx="11087100" cy="5243795"/>
          </a:xfrm>
          <a:prstGeom prst="rect">
            <a:avLst/>
          </a:prstGeom>
        </p:spPr>
      </p:pic>
    </p:spTree>
    <p:extLst>
      <p:ext uri="{BB962C8B-B14F-4D97-AF65-F5344CB8AC3E}">
        <p14:creationId xmlns:p14="http://schemas.microsoft.com/office/powerpoint/2010/main" val="1960285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32505F-06C5-D95A-EFD3-698E33CDD9AB}"/>
              </a:ext>
            </a:extLst>
          </p:cNvPr>
          <p:cNvPicPr>
            <a:picLocks noChangeAspect="1"/>
          </p:cNvPicPr>
          <p:nvPr/>
        </p:nvPicPr>
        <p:blipFill>
          <a:blip r:embed="rId2"/>
          <a:stretch>
            <a:fillRect/>
          </a:stretch>
        </p:blipFill>
        <p:spPr>
          <a:xfrm>
            <a:off x="304800" y="250642"/>
            <a:ext cx="11582400" cy="5857905"/>
          </a:xfrm>
          <a:prstGeom prst="rect">
            <a:avLst/>
          </a:prstGeom>
        </p:spPr>
      </p:pic>
    </p:spTree>
    <p:extLst>
      <p:ext uri="{BB962C8B-B14F-4D97-AF65-F5344CB8AC3E}">
        <p14:creationId xmlns:p14="http://schemas.microsoft.com/office/powerpoint/2010/main" val="4098730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6F467-DA6A-06B4-8510-D6EF1E2A2233}"/>
              </a:ext>
            </a:extLst>
          </p:cNvPr>
          <p:cNvSpPr>
            <a:spLocks noGrp="1"/>
          </p:cNvSpPr>
          <p:nvPr>
            <p:ph type="title"/>
          </p:nvPr>
        </p:nvSpPr>
        <p:spPr>
          <a:xfrm>
            <a:off x="685800" y="2766218"/>
            <a:ext cx="10515600" cy="1325563"/>
          </a:xfrm>
        </p:spPr>
        <p:txBody>
          <a:bodyPr/>
          <a:lstStyle/>
          <a:p>
            <a:r>
              <a:rPr lang="en-US"/>
              <a:t>Thank you!</a:t>
            </a:r>
          </a:p>
        </p:txBody>
      </p:sp>
    </p:spTree>
    <p:extLst>
      <p:ext uri="{BB962C8B-B14F-4D97-AF65-F5344CB8AC3E}">
        <p14:creationId xmlns:p14="http://schemas.microsoft.com/office/powerpoint/2010/main" val="2258916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4F8C3A58503A468B313D614F60A62E" ma:contentTypeVersion="3" ma:contentTypeDescription="Create a new document." ma:contentTypeScope="" ma:versionID="a06e91a23bea4039e7dba90635e8a7b9">
  <xsd:schema xmlns:xsd="http://www.w3.org/2001/XMLSchema" xmlns:xs="http://www.w3.org/2001/XMLSchema" xmlns:p="http://schemas.microsoft.com/office/2006/metadata/properties" xmlns:ns2="d60f4d4f-df0d-496d-be37-3409151b0e22" targetNamespace="http://schemas.microsoft.com/office/2006/metadata/properties" ma:root="true" ma:fieldsID="58eb803db81aca424170022de3fa5e8d" ns2:_="">
    <xsd:import namespace="d60f4d4f-df0d-496d-be37-3409151b0e2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f4d4f-df0d-496d-be37-3409151b0e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EEC8FB-7577-47FF-9353-B315082F8279}"/>
</file>

<file path=customXml/itemProps2.xml><?xml version="1.0" encoding="utf-8"?>
<ds:datastoreItem xmlns:ds="http://schemas.openxmlformats.org/officeDocument/2006/customXml" ds:itemID="{390033D8-7EDA-433A-A436-22737C8D3765}"/>
</file>

<file path=customXml/itemProps3.xml><?xml version="1.0" encoding="utf-8"?>
<ds:datastoreItem xmlns:ds="http://schemas.openxmlformats.org/officeDocument/2006/customXml" ds:itemID="{AF53B0E5-0B79-4DB6-A0D5-DDF9A510E4D2}"/>
</file>

<file path=docProps/app.xml><?xml version="1.0" encoding="utf-8"?>
<Properties xmlns="http://schemas.openxmlformats.org/officeDocument/2006/extended-properties" xmlns:vt="http://schemas.openxmlformats.org/officeDocument/2006/docPropsVTypes">
  <Template>TM03090434[[fn=Wood Type]]</Template>
  <TotalTime>1465</TotalTime>
  <Words>1157</Words>
  <Application>Microsoft Office PowerPoint</Application>
  <PresentationFormat>Widescreen</PresentationFormat>
  <Paragraphs>133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Calibri</vt:lpstr>
      <vt:lpstr>Rockwell</vt:lpstr>
      <vt:lpstr>Rockwell Condensed</vt:lpstr>
      <vt:lpstr>Wingdings</vt:lpstr>
      <vt:lpstr>Wood Type</vt:lpstr>
      <vt:lpstr>Creating Real-Time Dashboards with Kibana</vt:lpstr>
      <vt:lpstr>What Are Real-Time Dashboards?</vt:lpstr>
      <vt:lpstr>Why Real-Time Dashboards Matter</vt:lpstr>
      <vt:lpstr>What Is Elasticsearch?</vt:lpstr>
      <vt:lpstr>What Is Kibana?</vt:lpstr>
      <vt:lpstr>Real-World Uses of Kibana</vt:lpstr>
      <vt:lpstr>Architecture of a Real-Time Dashboard</vt:lpstr>
      <vt:lpstr>How Kibana Dashboards Work</vt:lpstr>
      <vt:lpstr>Demonstration Scenario</vt:lpstr>
      <vt:lpstr>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Cristian</dc:creator>
  <cp:lastModifiedBy>Cristian STEFAN (153719)</cp:lastModifiedBy>
  <cp:revision>7</cp:revision>
  <dcterms:created xsi:type="dcterms:W3CDTF">2025-10-19T16:02:48Z</dcterms:created>
  <dcterms:modified xsi:type="dcterms:W3CDTF">2025-12-16T17:57:32Z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0x010100004F8C3A58503A468B313D614F60A62E</vt:lpwstr>
  </property>
</Properties>
</file>